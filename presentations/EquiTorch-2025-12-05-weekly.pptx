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</p:sldIdLst>
  <p:sldSz cx="9144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 b="def" i="def"/>
      <a:tcStyle>
        <a:tcBdr/>
        <a:fill>
          <a:solidFill>
            <a:srgbClr val="E7E9EC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3CB"/>
          </a:solidFill>
        </a:fill>
      </a:tcStyle>
    </a:wholeTbl>
    <a:band2H>
      <a:tcTxStyle b="def" i="def"/>
      <a:tcStyle>
        <a:tcBdr/>
        <a:fill>
          <a:solidFill>
            <a:srgbClr val="E7EA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E1CC"/>
          </a:solidFill>
        </a:fill>
      </a:tcStyle>
    </a:wholeTbl>
    <a:band2H>
      <a:tcTxStyle b="def" i="def"/>
      <a:tcStyle>
        <a:tcBdr/>
        <a:fill>
          <a:solidFill>
            <a:srgbClr val="E8F0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Aptos"/>
      </a:defRPr>
    </a:lvl1pPr>
    <a:lvl2pPr indent="228600" latinLnBrk="0">
      <a:defRPr sz="1200">
        <a:latin typeface="+mn-lt"/>
        <a:ea typeface="+mn-ea"/>
        <a:cs typeface="+mn-cs"/>
        <a:sym typeface="Aptos"/>
      </a:defRPr>
    </a:lvl2pPr>
    <a:lvl3pPr indent="457200" latinLnBrk="0">
      <a:defRPr sz="1200">
        <a:latin typeface="+mn-lt"/>
        <a:ea typeface="+mn-ea"/>
        <a:cs typeface="+mn-cs"/>
        <a:sym typeface="Aptos"/>
      </a:defRPr>
    </a:lvl3pPr>
    <a:lvl4pPr indent="685800" latinLnBrk="0">
      <a:defRPr sz="1200">
        <a:latin typeface="+mn-lt"/>
        <a:ea typeface="+mn-ea"/>
        <a:cs typeface="+mn-cs"/>
        <a:sym typeface="Aptos"/>
      </a:defRPr>
    </a:lvl4pPr>
    <a:lvl5pPr indent="914400" latinLnBrk="0">
      <a:defRPr sz="1200">
        <a:latin typeface="+mn-lt"/>
        <a:ea typeface="+mn-ea"/>
        <a:cs typeface="+mn-cs"/>
        <a:sym typeface="Aptos"/>
      </a:defRPr>
    </a:lvl5pPr>
    <a:lvl6pPr indent="1143000" latinLnBrk="0">
      <a:defRPr sz="1200">
        <a:latin typeface="+mn-lt"/>
        <a:ea typeface="+mn-ea"/>
        <a:cs typeface="+mn-cs"/>
        <a:sym typeface="Aptos"/>
      </a:defRPr>
    </a:lvl6pPr>
    <a:lvl7pPr indent="1371600" latinLnBrk="0">
      <a:defRPr sz="1200">
        <a:latin typeface="+mn-lt"/>
        <a:ea typeface="+mn-ea"/>
        <a:cs typeface="+mn-cs"/>
        <a:sym typeface="Aptos"/>
      </a:defRPr>
    </a:lvl7pPr>
    <a:lvl8pPr indent="1600200" latinLnBrk="0">
      <a:defRPr sz="1200">
        <a:latin typeface="+mn-lt"/>
        <a:ea typeface="+mn-ea"/>
        <a:cs typeface="+mn-cs"/>
        <a:sym typeface="Aptos"/>
      </a:defRPr>
    </a:lvl8pPr>
    <a:lvl9pPr indent="1828800" latinLnBrk="0">
      <a:defRPr sz="1200">
        <a:latin typeface="+mn-lt"/>
        <a:ea typeface="+mn-ea"/>
        <a:cs typeface="+mn-cs"/>
        <a:sym typeface="Aptos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text"/>
          <p:cNvSpPr txBox="1"/>
          <p:nvPr>
            <p:ph type="title"/>
          </p:nvPr>
        </p:nvSpPr>
        <p:spPr>
          <a:xfrm>
            <a:off x="685800" y="1122362"/>
            <a:ext cx="77724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/>
            <a:r>
              <a:t>Titeltext</a:t>
            </a:r>
          </a:p>
        </p:txBody>
      </p:sp>
      <p:sp>
        <p:nvSpPr>
          <p:cNvPr id="12" name="Textebene 1…"/>
          <p:cNvSpPr txBox="1"/>
          <p:nvPr>
            <p:ph type="body" sz="quarter" idx="1"/>
          </p:nvPr>
        </p:nvSpPr>
        <p:spPr>
          <a:xfrm>
            <a:off x="1143000" y="3602037"/>
            <a:ext cx="6858000" cy="1655764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0" algn="ctr">
              <a:buSzTx/>
              <a:buFontTx/>
              <a:buNone/>
              <a:defRPr sz="2400"/>
            </a:lvl2pPr>
            <a:lvl3pPr marL="0" indent="0" algn="ctr">
              <a:buSzTx/>
              <a:buFontTx/>
              <a:buNone/>
              <a:defRPr sz="2400"/>
            </a:lvl3pPr>
            <a:lvl4pPr marL="0" indent="0" algn="ctr">
              <a:buSzTx/>
              <a:buFontTx/>
              <a:buNone/>
              <a:defRPr sz="2400"/>
            </a:lvl4pPr>
            <a:lvl5pPr marL="0" indent="0" algn="ctr">
              <a:buSzTx/>
              <a:buFontTx/>
              <a:buNone/>
              <a:defRPr sz="2400"/>
            </a:lvl5pPr>
          </a:lstStyle>
          <a:p>
            <a:pPr/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13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Titeltext</a:t>
            </a:r>
          </a:p>
        </p:txBody>
      </p:sp>
      <p:sp>
        <p:nvSpPr>
          <p:cNvPr id="21" name="Textebene 1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22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eltext"/>
          <p:cNvSpPr txBox="1"/>
          <p:nvPr>
            <p:ph type="title"/>
          </p:nvPr>
        </p:nvSpPr>
        <p:spPr>
          <a:xfrm>
            <a:off x="623887" y="1709739"/>
            <a:ext cx="7886701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Titeltext</a:t>
            </a:r>
          </a:p>
        </p:txBody>
      </p:sp>
      <p:sp>
        <p:nvSpPr>
          <p:cNvPr id="30" name="Textebene 1…"/>
          <p:cNvSpPr txBox="1"/>
          <p:nvPr>
            <p:ph type="body" sz="quarter" idx="1"/>
          </p:nvPr>
        </p:nvSpPr>
        <p:spPr>
          <a:xfrm>
            <a:off x="623887" y="4589464"/>
            <a:ext cx="7886701" cy="1500189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757575"/>
                </a:solidFill>
              </a:defRPr>
            </a:lvl1pPr>
            <a:lvl2pPr marL="0" indent="0">
              <a:buSzTx/>
              <a:buFontTx/>
              <a:buNone/>
              <a:defRPr sz="2400">
                <a:solidFill>
                  <a:srgbClr val="757575"/>
                </a:solidFill>
              </a:defRPr>
            </a:lvl2pPr>
            <a:lvl3pPr marL="0" indent="0">
              <a:buSzTx/>
              <a:buFontTx/>
              <a:buNone/>
              <a:defRPr sz="2400">
                <a:solidFill>
                  <a:srgbClr val="757575"/>
                </a:solidFill>
              </a:defRPr>
            </a:lvl3pPr>
            <a:lvl4pPr marL="0" indent="0">
              <a:buSzTx/>
              <a:buFontTx/>
              <a:buNone/>
              <a:defRPr sz="2400">
                <a:solidFill>
                  <a:srgbClr val="757575"/>
                </a:solidFill>
              </a:defRPr>
            </a:lvl4pPr>
            <a:lvl5pPr marL="0" indent="0">
              <a:buSzTx/>
              <a:buFontTx/>
              <a:buNone/>
              <a:defRPr sz="2400">
                <a:solidFill>
                  <a:srgbClr val="757575"/>
                </a:solidFill>
              </a:defRPr>
            </a:lvl5pPr>
          </a:lstStyle>
          <a:p>
            <a:pPr/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31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el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Titeltext</a:t>
            </a:r>
          </a:p>
        </p:txBody>
      </p:sp>
      <p:sp>
        <p:nvSpPr>
          <p:cNvPr id="39" name="Textebene 1…"/>
          <p:cNvSpPr txBox="1"/>
          <p:nvPr>
            <p:ph type="body"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/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40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eltext"/>
          <p:cNvSpPr txBox="1"/>
          <p:nvPr>
            <p:ph type="title"/>
          </p:nvPr>
        </p:nvSpPr>
        <p:spPr>
          <a:xfrm>
            <a:off x="629841" y="365125"/>
            <a:ext cx="7886701" cy="1325564"/>
          </a:xfrm>
          <a:prstGeom prst="rect">
            <a:avLst/>
          </a:prstGeom>
        </p:spPr>
        <p:txBody>
          <a:bodyPr/>
          <a:lstStyle/>
          <a:p>
            <a:pPr/>
            <a:r>
              <a:t>Titeltext</a:t>
            </a:r>
          </a:p>
        </p:txBody>
      </p:sp>
      <p:sp>
        <p:nvSpPr>
          <p:cNvPr id="48" name="Textebene 1…"/>
          <p:cNvSpPr txBox="1"/>
          <p:nvPr>
            <p:ph type="body" sz="quarter" idx="1"/>
          </p:nvPr>
        </p:nvSpPr>
        <p:spPr>
          <a:xfrm>
            <a:off x="629841" y="1681163"/>
            <a:ext cx="3868342" cy="823914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b="1" sz="2400"/>
            </a:lvl1pPr>
            <a:lvl2pPr marL="0" indent="0">
              <a:buSzTx/>
              <a:buFontTx/>
              <a:buNone/>
              <a:defRPr b="1" sz="2400"/>
            </a:lvl2pPr>
            <a:lvl3pPr marL="0" indent="0">
              <a:buSzTx/>
              <a:buFontTx/>
              <a:buNone/>
              <a:defRPr b="1" sz="2400"/>
            </a:lvl3pPr>
            <a:lvl4pPr marL="0" indent="0">
              <a:buSzTx/>
              <a:buFontTx/>
              <a:buNone/>
              <a:defRPr b="1" sz="2400"/>
            </a:lvl4pPr>
            <a:lvl5pPr marL="0" indent="0">
              <a:buSzTx/>
              <a:buFontTx/>
              <a:buNone/>
              <a:defRPr b="1" sz="2400"/>
            </a:lvl5pPr>
          </a:lstStyle>
          <a:p>
            <a:pPr/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29150" y="1681163"/>
            <a:ext cx="3887393" cy="823914"/>
          </a:xfrm>
          <a:prstGeom prst="rect">
            <a:avLst/>
          </a:prstGeom>
        </p:spPr>
        <p:txBody>
          <a:bodyPr anchor="b"/>
          <a:lstStyle/>
          <a:p>
            <a:pPr/>
          </a:p>
        </p:txBody>
      </p:sp>
      <p:sp>
        <p:nvSpPr>
          <p:cNvPr id="50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el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Titeltext</a:t>
            </a:r>
          </a:p>
        </p:txBody>
      </p:sp>
      <p:sp>
        <p:nvSpPr>
          <p:cNvPr id="58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eltext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Titeltext</a:t>
            </a:r>
          </a:p>
        </p:txBody>
      </p:sp>
      <p:sp>
        <p:nvSpPr>
          <p:cNvPr id="73" name="Textebene 1…"/>
          <p:cNvSpPr txBox="1"/>
          <p:nvPr>
            <p:ph type="body" sz="half" idx="1"/>
          </p:nvPr>
        </p:nvSpPr>
        <p:spPr>
          <a:xfrm>
            <a:off x="3887391" y="987425"/>
            <a:ext cx="4629152" cy="4873627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pPr/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629839" y="2057400"/>
            <a:ext cx="2949182" cy="3811588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5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eltext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Titeltext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3887391" y="987425"/>
            <a:ext cx="4629152" cy="4873627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84" name="Textebene 1…"/>
          <p:cNvSpPr txBox="1"/>
          <p:nvPr>
            <p:ph type="body" sz="quarter" idx="1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0">
              <a:buSzTx/>
              <a:buFontTx/>
              <a:buNone/>
              <a:defRPr sz="1600"/>
            </a:lvl2pPr>
            <a:lvl3pPr marL="0" indent="0">
              <a:buSzTx/>
              <a:buFontTx/>
              <a:buNone/>
              <a:defRPr sz="1600"/>
            </a:lvl3pPr>
            <a:lvl4pPr marL="0" indent="0">
              <a:buSzTx/>
              <a:buFontTx/>
              <a:buNone/>
              <a:defRPr sz="1600"/>
            </a:lvl4pPr>
            <a:lvl5pPr marL="0" indent="0">
              <a:buSzTx/>
              <a:buFontTx/>
              <a:buNone/>
              <a:defRPr sz="1600"/>
            </a:lvl5pPr>
          </a:lstStyle>
          <a:p>
            <a:pPr/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85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text"/>
          <p:cNvSpPr txBox="1"/>
          <p:nvPr>
            <p:ph type="title"/>
          </p:nvPr>
        </p:nvSpPr>
        <p:spPr>
          <a:xfrm>
            <a:off x="628650" y="365125"/>
            <a:ext cx="7886700" cy="1325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/>
            <a:r>
              <a:t>Titeltext</a:t>
            </a:r>
          </a:p>
        </p:txBody>
      </p:sp>
      <p:sp>
        <p:nvSpPr>
          <p:cNvPr id="3" name="Textebene 1…"/>
          <p:cNvSpPr txBox="1"/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4" name="Foliennummer"/>
          <p:cNvSpPr txBox="1"/>
          <p:nvPr>
            <p:ph type="sldNum" sz="quarter" idx="2"/>
          </p:nvPr>
        </p:nvSpPr>
        <p:spPr>
          <a:xfrm>
            <a:off x="8241697" y="6404295"/>
            <a:ext cx="273654" cy="269239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757575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2pPr>
      <a:lvl3pPr marL="1234438" marR="0" indent="-320038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el 1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Weekly Update on</a:t>
            </a:r>
            <a:br/>
            <a:r>
              <a:t>EquiTorch</a:t>
            </a:r>
          </a:p>
        </p:txBody>
      </p:sp>
      <p:sp>
        <p:nvSpPr>
          <p:cNvPr id="95" name="Untertitel 2"/>
          <p:cNvSpPr txBox="1"/>
          <p:nvPr>
            <p:ph type="subTitle" sz="half" idx="1"/>
          </p:nvPr>
        </p:nvSpPr>
        <p:spPr>
          <a:xfrm>
            <a:off x="1277653" y="4215007"/>
            <a:ext cx="6463434" cy="2004167"/>
          </a:xfrm>
          <a:prstGeom prst="rect">
            <a:avLst/>
          </a:prstGeom>
        </p:spPr>
        <p:txBody>
          <a:bodyPr/>
          <a:lstStyle/>
          <a:p>
            <a:pPr/>
          </a:p>
          <a:p>
            <a:pPr/>
            <a:r>
              <a:t>Alex, Jens</a:t>
            </a:r>
          </a:p>
          <a:p>
            <a:pPr/>
            <a:r>
              <a:t>SS2025</a:t>
            </a:r>
          </a:p>
          <a:p>
            <a:pPr/>
            <a:r>
              <a:t>05.05.2025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itel 1"/>
          <p:cNvSpPr txBox="1"/>
          <p:nvPr>
            <p:ph type="title"/>
          </p:nvPr>
        </p:nvSpPr>
        <p:spPr>
          <a:xfrm>
            <a:off x="628650" y="365125"/>
            <a:ext cx="7886700" cy="1325564"/>
          </a:xfrm>
          <a:prstGeom prst="rect">
            <a:avLst/>
          </a:prstGeom>
        </p:spPr>
        <p:txBody>
          <a:bodyPr/>
          <a:lstStyle/>
          <a:p>
            <a:pPr/>
            <a:r>
              <a:t>Status Project Plan</a:t>
            </a:r>
          </a:p>
        </p:txBody>
      </p:sp>
      <p:sp>
        <p:nvSpPr>
          <p:cNvPr id="98" name="Inhaltsplatzhalter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106870" indent="-106870" defTabSz="427481">
              <a:spcBef>
                <a:spcPts val="400"/>
              </a:spcBef>
              <a:defRPr sz="1265"/>
            </a:pPr>
            <a:r>
              <a:t>Work on increasingly complex architectures:</a:t>
            </a:r>
          </a:p>
          <a:p>
            <a:pPr lvl="1" marL="320611" indent="-106870" defTabSz="427481">
              <a:spcBef>
                <a:spcPts val="400"/>
              </a:spcBef>
              <a:defRPr sz="1265"/>
            </a:pPr>
            <a:r>
              <a:t>MLP</a:t>
            </a:r>
          </a:p>
          <a:p>
            <a:pPr lvl="1" marL="320611" indent="-106870" defTabSz="427481">
              <a:spcBef>
                <a:spcPts val="400"/>
              </a:spcBef>
              <a:defRPr sz="1265"/>
            </a:pPr>
            <a:r>
              <a:t>CNN</a:t>
            </a:r>
          </a:p>
          <a:p>
            <a:pPr lvl="1" marL="320611" indent="-106870" defTabSz="427481">
              <a:spcBef>
                <a:spcPts val="400"/>
              </a:spcBef>
              <a:defRPr sz="1265"/>
            </a:pPr>
            <a:r>
              <a:t>RNN</a:t>
            </a:r>
          </a:p>
          <a:p>
            <a:pPr lvl="1" marL="320611" indent="-106870" defTabSz="427481">
              <a:spcBef>
                <a:spcPts val="400"/>
              </a:spcBef>
              <a:defRPr sz="1265"/>
            </a:pPr>
            <a:r>
              <a:t>More Complex ones (Transformer, LSTM, …)</a:t>
            </a:r>
          </a:p>
          <a:p>
            <a:pPr lvl="1" marL="320611" indent="-106870" defTabSz="427481">
              <a:spcBef>
                <a:spcPts val="400"/>
              </a:spcBef>
              <a:defRPr sz="1265"/>
            </a:pPr>
          </a:p>
          <a:p>
            <a:pPr marL="106870" indent="-106870" defTabSz="427481">
              <a:spcBef>
                <a:spcPts val="400"/>
              </a:spcBef>
              <a:defRPr sz="1265"/>
            </a:pPr>
            <a:r>
              <a:t>Parsing</a:t>
            </a:r>
          </a:p>
          <a:p>
            <a:pPr lvl="1" marL="320611" indent="-106870" defTabSz="427481">
              <a:spcBef>
                <a:spcPts val="400"/>
              </a:spcBef>
              <a:defRPr sz="1265"/>
            </a:pPr>
            <a:r>
              <a:t>Core concepts</a:t>
            </a:r>
          </a:p>
          <a:p>
            <a:pPr lvl="1" marL="320611" indent="-106870" defTabSz="427481">
              <a:spcBef>
                <a:spcPts val="400"/>
              </a:spcBef>
              <a:defRPr sz="1265"/>
            </a:pPr>
            <a:r>
              <a:t>AST structure</a:t>
            </a:r>
          </a:p>
          <a:p>
            <a:pPr lvl="1" marL="320611" indent="-106870" defTabSz="427481">
              <a:spcBef>
                <a:spcPts val="400"/>
              </a:spcBef>
              <a:defRPr sz="1265"/>
            </a:pPr>
            <a:r>
              <a:t>First Parser</a:t>
            </a:r>
          </a:p>
          <a:p>
            <a:pPr lvl="1" marL="320611" indent="-106870" defTabSz="427481">
              <a:spcBef>
                <a:spcPts val="400"/>
              </a:spcBef>
              <a:defRPr sz="1265"/>
            </a:pPr>
            <a:r>
              <a:t>Elaborate on difficult cases</a:t>
            </a:r>
          </a:p>
          <a:p>
            <a:pPr lvl="1" marL="320611" indent="-106870" defTabSz="427481">
              <a:spcBef>
                <a:spcPts val="400"/>
              </a:spcBef>
              <a:defRPr sz="1265"/>
            </a:pPr>
            <a:r>
              <a:t>Iterate on more complex architecture</a:t>
            </a:r>
          </a:p>
          <a:p>
            <a:pPr lvl="1" marL="320611" indent="-106870" defTabSz="427481">
              <a:spcBef>
                <a:spcPts val="400"/>
              </a:spcBef>
              <a:defRPr sz="1265"/>
            </a:pPr>
          </a:p>
          <a:p>
            <a:pPr marL="106870" indent="-106870" defTabSz="427481">
              <a:spcBef>
                <a:spcPts val="400"/>
              </a:spcBef>
              <a:defRPr sz="1265"/>
            </a:pPr>
            <a:r>
              <a:t>Core concepts Pytorch vs equinox:</a:t>
            </a:r>
          </a:p>
          <a:p>
            <a:pPr lvl="1" marL="320611" indent="-106870" defTabSz="427481">
              <a:spcBef>
                <a:spcPts val="400"/>
              </a:spcBef>
              <a:defRPr sz="1265"/>
            </a:pPr>
            <a:r>
              <a:t>Forward computation graph</a:t>
            </a:r>
          </a:p>
          <a:p>
            <a:pPr lvl="2" marL="609790" indent="-106870" defTabSz="427481">
              <a:spcBef>
                <a:spcPts val="400"/>
              </a:spcBef>
              <a:defRPr sz="1265"/>
            </a:pPr>
            <a:r>
              <a:t>Ast based</a:t>
            </a:r>
          </a:p>
          <a:p>
            <a:pPr lvl="2" marL="609790" indent="-106870" defTabSz="427481">
              <a:spcBef>
                <a:spcPts val="400"/>
              </a:spcBef>
              <a:defRPr sz="1265"/>
            </a:pPr>
            <a:r>
              <a:t>Runtime ‚probing‘</a:t>
            </a:r>
          </a:p>
          <a:p>
            <a:pPr lvl="1" marL="320611" indent="-106870" defTabSz="427481">
              <a:spcBef>
                <a:spcPts val="400"/>
              </a:spcBef>
              <a:defRPr sz="1265"/>
            </a:pPr>
            <a:r>
              <a:t>Build Library for direct translations of equivalent modules</a:t>
            </a:r>
          </a:p>
        </p:txBody>
      </p:sp>
      <p:sp>
        <p:nvSpPr>
          <p:cNvPr id="99" name="Pfeil"/>
          <p:cNvSpPr/>
          <p:nvPr/>
        </p:nvSpPr>
        <p:spPr>
          <a:xfrm>
            <a:off x="2271330" y="4062421"/>
            <a:ext cx="672599" cy="1451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9445" y="14256"/>
                </a:moveTo>
                <a:lnTo>
                  <a:pt x="9445" y="21600"/>
                </a:lnTo>
                <a:lnTo>
                  <a:pt x="0" y="10800"/>
                </a:lnTo>
                <a:lnTo>
                  <a:pt x="9445" y="0"/>
                </a:lnTo>
                <a:lnTo>
                  <a:pt x="9445" y="7344"/>
                </a:lnTo>
                <a:lnTo>
                  <a:pt x="21600" y="7344"/>
                </a:lnTo>
                <a:lnTo>
                  <a:pt x="21600" y="14256"/>
                </a:lnTo>
                <a:close/>
              </a:path>
            </a:pathLst>
          </a:custGeom>
          <a:solidFill>
            <a:schemeClr val="accent1">
              <a:lumOff val="-5921"/>
            </a:schemeClr>
          </a:solidFill>
          <a:ln w="19050">
            <a:solidFill>
              <a:schemeClr val="accent1"/>
            </a:solidFill>
            <a:miter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00" name="Pfeil"/>
          <p:cNvSpPr/>
          <p:nvPr/>
        </p:nvSpPr>
        <p:spPr>
          <a:xfrm>
            <a:off x="3341476" y="5254437"/>
            <a:ext cx="672600" cy="1451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9445" y="14256"/>
                </a:moveTo>
                <a:lnTo>
                  <a:pt x="9445" y="21600"/>
                </a:lnTo>
                <a:lnTo>
                  <a:pt x="0" y="10800"/>
                </a:lnTo>
                <a:lnTo>
                  <a:pt x="9445" y="0"/>
                </a:lnTo>
                <a:lnTo>
                  <a:pt x="9445" y="7344"/>
                </a:lnTo>
                <a:lnTo>
                  <a:pt x="21600" y="7344"/>
                </a:lnTo>
                <a:lnTo>
                  <a:pt x="21600" y="14256"/>
                </a:lnTo>
                <a:close/>
              </a:path>
            </a:pathLst>
          </a:custGeom>
          <a:solidFill>
            <a:schemeClr val="accent1">
              <a:lumOff val="-5921"/>
            </a:schemeClr>
          </a:solidFill>
          <a:ln w="19050">
            <a:solidFill>
              <a:schemeClr val="accent1"/>
            </a:solidFill>
            <a:miter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01" name="Pfeil"/>
          <p:cNvSpPr/>
          <p:nvPr/>
        </p:nvSpPr>
        <p:spPr>
          <a:xfrm>
            <a:off x="1742401" y="2389618"/>
            <a:ext cx="672600" cy="1451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9445" y="14256"/>
                </a:moveTo>
                <a:lnTo>
                  <a:pt x="9445" y="21600"/>
                </a:lnTo>
                <a:lnTo>
                  <a:pt x="0" y="10800"/>
                </a:lnTo>
                <a:lnTo>
                  <a:pt x="9445" y="0"/>
                </a:lnTo>
                <a:lnTo>
                  <a:pt x="9445" y="7344"/>
                </a:lnTo>
                <a:lnTo>
                  <a:pt x="21600" y="7344"/>
                </a:lnTo>
                <a:lnTo>
                  <a:pt x="21600" y="14256"/>
                </a:lnTo>
                <a:close/>
              </a:path>
            </a:pathLst>
          </a:custGeom>
          <a:solidFill>
            <a:schemeClr val="accent1">
              <a:lumOff val="-5921"/>
            </a:schemeClr>
          </a:solidFill>
          <a:ln w="19050">
            <a:solidFill>
              <a:schemeClr val="accent1"/>
            </a:solidFill>
            <a:miter/>
          </a:ln>
        </p:spPr>
        <p:txBody>
          <a:bodyPr lIns="45718" tIns="45718" rIns="45718" bIns="45718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itel 1"/>
          <p:cNvSpPr txBox="1"/>
          <p:nvPr>
            <p:ph type="title"/>
          </p:nvPr>
        </p:nvSpPr>
        <p:spPr>
          <a:xfrm>
            <a:off x="628650" y="365125"/>
            <a:ext cx="7886700" cy="1325564"/>
          </a:xfrm>
          <a:prstGeom prst="rect">
            <a:avLst/>
          </a:prstGeom>
        </p:spPr>
        <p:txBody>
          <a:bodyPr/>
          <a:lstStyle/>
          <a:p>
            <a:pPr/>
            <a:r>
              <a:t>Progress Since Last Meeting</a:t>
            </a:r>
          </a:p>
        </p:txBody>
      </p:sp>
      <p:sp>
        <p:nvSpPr>
          <p:cNvPr id="104" name="Inhaltsplatzhalter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133502" indent="-133502" defTabSz="534009">
              <a:spcBef>
                <a:spcPts val="500"/>
              </a:spcBef>
              <a:defRPr sz="1600"/>
            </a:pPr>
            <a:r>
              <a:t>Statistics (mandatory) since last meeting</a:t>
            </a:r>
          </a:p>
          <a:p>
            <a:pPr lvl="1" marL="400507" indent="-133502" defTabSz="534009">
              <a:spcBef>
                <a:spcPts val="200"/>
              </a:spcBef>
              <a:defRPr sz="1360"/>
            </a:pPr>
            <a:r>
              <a:t>#Commits: 31</a:t>
            </a:r>
          </a:p>
          <a:p>
            <a:pPr lvl="1" marL="400507" indent="-133502" defTabSz="534009">
              <a:spcBef>
                <a:spcPts val="200"/>
              </a:spcBef>
              <a:defRPr sz="1360"/>
            </a:pPr>
            <a:r>
              <a:t>#LOC added: ~ 650 </a:t>
            </a:r>
          </a:p>
          <a:p>
            <a:pPr lvl="1" marL="400507" indent="-133502" defTabSz="534009">
              <a:spcBef>
                <a:spcPts val="200"/>
              </a:spcBef>
              <a:defRPr sz="1360"/>
            </a:pPr>
            <a:r>
              <a:t>Docs, manuals: -</a:t>
            </a:r>
          </a:p>
          <a:p>
            <a:pPr lvl="1" marL="400507" indent="-133502" defTabSz="534009">
              <a:spcBef>
                <a:spcPts val="200"/>
              </a:spcBef>
              <a:defRPr sz="1360"/>
            </a:pPr>
          </a:p>
          <a:p>
            <a:pPr marL="133502" indent="-133502" defTabSz="534009">
              <a:spcBef>
                <a:spcPts val="200"/>
              </a:spcBef>
              <a:defRPr sz="1360"/>
            </a:pPr>
            <a:r>
              <a:t>Overview focus areas</a:t>
            </a:r>
            <a:endParaRPr sz="1600"/>
          </a:p>
          <a:p>
            <a:pPr lvl="1" marL="400507" indent="-133502" defTabSz="534009">
              <a:spcBef>
                <a:spcPts val="200"/>
              </a:spcBef>
              <a:defRPr sz="1360"/>
            </a:pPr>
            <a:r>
              <a:t>Setup Project structure, GitHub actions, linter, …</a:t>
            </a:r>
            <a:endParaRPr sz="1600"/>
          </a:p>
          <a:p>
            <a:pPr lvl="1" marL="400507" indent="-133502" defTabSz="534009">
              <a:spcBef>
                <a:spcPts val="200"/>
              </a:spcBef>
              <a:defRPr sz="1360"/>
            </a:pPr>
            <a:r>
              <a:t>Implementation of a first parser</a:t>
            </a:r>
          </a:p>
          <a:p>
            <a:pPr lvl="1" marL="400507" indent="-133502" defTabSz="534009">
              <a:spcBef>
                <a:spcPts val="200"/>
              </a:spcBef>
              <a:defRPr sz="1360"/>
            </a:pPr>
          </a:p>
          <a:p>
            <a:pPr marL="133502" indent="-133502" defTabSz="534009">
              <a:spcBef>
                <a:spcPts val="500"/>
              </a:spcBef>
              <a:defRPr sz="1600"/>
            </a:pPr>
            <a:r>
              <a:t>For each focus area:</a:t>
            </a:r>
          </a:p>
          <a:p>
            <a:pPr lvl="1" marL="400507" indent="-133502" defTabSz="534009">
              <a:spcBef>
                <a:spcPts val="200"/>
              </a:spcBef>
              <a:defRPr sz="1360"/>
            </a:pPr>
            <a:r>
              <a:t>Project Setup:</a:t>
            </a:r>
          </a:p>
          <a:p>
            <a:pPr lvl="2" marL="667511" indent="-133502" defTabSz="534009">
              <a:spcBef>
                <a:spcPts val="200"/>
              </a:spcBef>
              <a:defRPr sz="1360"/>
            </a:pPr>
            <a:r>
              <a:t>uv for dependency and general project management (project.toml)</a:t>
            </a:r>
          </a:p>
          <a:p>
            <a:pPr lvl="2" marL="667511" indent="-133502" defTabSz="534009">
              <a:spcBef>
                <a:spcPts val="200"/>
              </a:spcBef>
              <a:defRPr sz="1360"/>
            </a:pPr>
            <a:r>
              <a:t>Pytest for tests</a:t>
            </a:r>
          </a:p>
          <a:p>
            <a:pPr lvl="2" marL="667511" indent="-133502" defTabSz="534009">
              <a:spcBef>
                <a:spcPts val="200"/>
              </a:spcBef>
              <a:defRPr sz="1360"/>
            </a:pPr>
            <a:r>
              <a:t>GitHub actions to execute tests on PRs</a:t>
            </a:r>
          </a:p>
          <a:p>
            <a:pPr lvl="1" marL="400507" indent="-133502" defTabSz="534009">
              <a:spcBef>
                <a:spcPts val="200"/>
              </a:spcBef>
              <a:defRPr sz="1360"/>
            </a:pPr>
            <a:r>
              <a:t>First Parser</a:t>
            </a:r>
            <a:r>
              <a:t>:</a:t>
            </a:r>
          </a:p>
          <a:p>
            <a:pPr lvl="2" marL="667511" indent="-133502" defTabSz="534009">
              <a:spcBef>
                <a:spcPts val="200"/>
              </a:spcBef>
              <a:defRPr sz="1360"/>
            </a:pPr>
            <a:r>
              <a:t>Identify layer / parameter assignments in __init__(…) from AST</a:t>
            </a:r>
          </a:p>
          <a:p>
            <a:pPr lvl="2" marL="667511" indent="-133502" defTabSz="534009">
              <a:spcBef>
                <a:spcPts val="200"/>
              </a:spcBef>
              <a:defRPr sz="1360"/>
            </a:pPr>
            <a:r>
              <a:t>Translate fundamental layers</a:t>
            </a:r>
          </a:p>
          <a:p>
            <a:pPr lvl="2" marL="667511" indent="-133502" defTabSz="534009">
              <a:spcBef>
                <a:spcPts val="200"/>
              </a:spcBef>
              <a:defRPr sz="1360"/>
            </a:pPr>
            <a:r>
              <a:t>Parse forward computation</a:t>
            </a:r>
          </a:p>
          <a:p>
            <a:pPr lvl="2" marL="667511" indent="-133502" defTabSz="534009">
              <a:spcBef>
                <a:spcPts val="200"/>
              </a:spcBef>
              <a:defRPr sz="1360"/>
            </a:pPr>
            <a:r>
              <a:t>Translate forward computation in accordance with existing layers (Still buggy)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itel 1"/>
          <p:cNvSpPr txBox="1"/>
          <p:nvPr>
            <p:ph type="title"/>
          </p:nvPr>
        </p:nvSpPr>
        <p:spPr>
          <a:xfrm>
            <a:off x="628650" y="365125"/>
            <a:ext cx="7886700" cy="1325564"/>
          </a:xfrm>
          <a:prstGeom prst="rect">
            <a:avLst/>
          </a:prstGeom>
        </p:spPr>
        <p:txBody>
          <a:bodyPr/>
          <a:lstStyle/>
          <a:p>
            <a:pPr/>
            <a:r>
              <a:t>Next Goals</a:t>
            </a:r>
          </a:p>
        </p:txBody>
      </p:sp>
      <p:sp>
        <p:nvSpPr>
          <p:cNvPr id="107" name="Inhaltsplatzhalter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New or updated focus areas - overview</a:t>
            </a:r>
          </a:p>
          <a:p>
            <a:pPr lvl="1" marL="685800" indent="-228600"/>
            <a:r>
              <a:t>Merge existing code into project structure</a:t>
            </a:r>
          </a:p>
          <a:p>
            <a:pPr lvl="1" marL="685800" indent="-228600"/>
            <a:r>
              <a:t>Improve forward parsing</a:t>
            </a:r>
          </a:p>
          <a:p>
            <a:pPr lvl="1" marL="685800" indent="-228600"/>
            <a:r>
              <a:t>Expand Translation Library</a:t>
            </a:r>
          </a:p>
          <a:p>
            <a:pPr lvl="1" marL="685800" indent="-228600"/>
          </a:p>
          <a:p>
            <a:pPr>
              <a:spcBef>
                <a:spcPts val="500"/>
              </a:spcBef>
              <a:defRPr sz="2400"/>
            </a:pPr>
            <a:r>
              <a:t>Parsing:</a:t>
            </a:r>
          </a:p>
          <a:p>
            <a:pPr lvl="1" marL="685800" indent="-228600">
              <a:spcBef>
                <a:spcPts val="500"/>
              </a:spcBef>
              <a:defRPr sz="2400"/>
            </a:pPr>
            <a:r>
              <a:t>More difficult cases are (so far): </a:t>
            </a:r>
          </a:p>
          <a:p>
            <a:pPr lvl="2" marL="1143000" indent="-228600">
              <a:spcBef>
                <a:spcPts val="500"/>
              </a:spcBef>
              <a:defRPr sz="2400"/>
            </a:pPr>
            <a:r>
              <a:t>Expressions in arguments</a:t>
            </a:r>
          </a:p>
          <a:p>
            <a:pPr lvl="2" marL="1143000" indent="-228600">
              <a:spcBef>
                <a:spcPts val="500"/>
              </a:spcBef>
              <a:defRPr sz="2400"/>
            </a:pPr>
            <a:r>
              <a:t>Custom modules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itel 1"/>
          <p:cNvSpPr txBox="1"/>
          <p:nvPr>
            <p:ph type="title"/>
          </p:nvPr>
        </p:nvSpPr>
        <p:spPr>
          <a:xfrm>
            <a:off x="628650" y="365125"/>
            <a:ext cx="7886700" cy="1325564"/>
          </a:xfrm>
          <a:prstGeom prst="rect">
            <a:avLst/>
          </a:prstGeom>
        </p:spPr>
        <p:txBody>
          <a:bodyPr/>
          <a:lstStyle/>
          <a:p>
            <a:pPr/>
            <a:r>
              <a:t>Other Topics</a:t>
            </a:r>
          </a:p>
        </p:txBody>
      </p:sp>
      <p:sp>
        <p:nvSpPr>
          <p:cNvPr id="110" name="Inhaltsplatzhalter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Whats a good way to combine:</a:t>
            </a:r>
          </a:p>
          <a:p>
            <a:pPr lvl="1" marL="685800" indent="-228600"/>
            <a:r>
              <a:t>Information from __init__ parsing,</a:t>
            </a:r>
          </a:p>
          <a:p>
            <a:pPr lvl="1" marL="685800" indent="-228600"/>
            <a:r>
              <a:t>Control flow graph of forward pass,</a:t>
            </a:r>
          </a:p>
          <a:p>
            <a:pPr lvl="1" marL="685800" indent="-228600"/>
            <a:r>
              <a:t>AST,</a:t>
            </a:r>
          </a:p>
          <a:p>
            <a:pPr/>
            <a:r>
              <a:t>To obtain stable forward pass translation.</a:t>
            </a:r>
          </a:p>
        </p:txBody>
      </p:sp>
      <p:sp>
        <p:nvSpPr>
          <p:cNvPr id="111" name="Foliennummernplatzhalter 3"/>
          <p:cNvSpPr txBox="1"/>
          <p:nvPr>
            <p:ph type="sldNum" sz="quarter" idx="4294967295"/>
          </p:nvPr>
        </p:nvSpPr>
        <p:spPr>
          <a:xfrm>
            <a:off x="8326452" y="6404294"/>
            <a:ext cx="188897" cy="26923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Office">
      <a:majorFont>
        <a:latin typeface="Helvetica"/>
        <a:ea typeface="Helvetica"/>
        <a:cs typeface="Helvetica"/>
      </a:majorFont>
      <a:minorFont>
        <a:latin typeface="Aptos"/>
        <a:ea typeface="Aptos"/>
        <a:cs typeface="Apto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Office">
      <a:majorFont>
        <a:latin typeface="Helvetica"/>
        <a:ea typeface="Helvetica"/>
        <a:cs typeface="Helvetica"/>
      </a:majorFont>
      <a:minorFont>
        <a:latin typeface="Aptos"/>
        <a:ea typeface="Aptos"/>
        <a:cs typeface="Apto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