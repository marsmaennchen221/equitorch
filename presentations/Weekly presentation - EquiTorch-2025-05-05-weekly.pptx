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"/>
      </a:defRPr>
    </a:lvl1pPr>
    <a:lvl2pPr indent="228600" latinLnBrk="0">
      <a:defRPr sz="1200">
        <a:latin typeface="+mn-lt"/>
        <a:ea typeface="+mn-ea"/>
        <a:cs typeface="+mn-cs"/>
        <a:sym typeface="Aptos"/>
      </a:defRPr>
    </a:lvl2pPr>
    <a:lvl3pPr indent="457200" latinLnBrk="0">
      <a:defRPr sz="1200">
        <a:latin typeface="+mn-lt"/>
        <a:ea typeface="+mn-ea"/>
        <a:cs typeface="+mn-cs"/>
        <a:sym typeface="Aptos"/>
      </a:defRPr>
    </a:lvl3pPr>
    <a:lvl4pPr indent="685800" latinLnBrk="0">
      <a:defRPr sz="1200">
        <a:latin typeface="+mn-lt"/>
        <a:ea typeface="+mn-ea"/>
        <a:cs typeface="+mn-cs"/>
        <a:sym typeface="Aptos"/>
      </a:defRPr>
    </a:lvl4pPr>
    <a:lvl5pPr indent="914400" latinLnBrk="0">
      <a:defRPr sz="1200">
        <a:latin typeface="+mn-lt"/>
        <a:ea typeface="+mn-ea"/>
        <a:cs typeface="+mn-cs"/>
        <a:sym typeface="Aptos"/>
      </a:defRPr>
    </a:lvl5pPr>
    <a:lvl6pPr indent="1143000" latinLnBrk="0">
      <a:defRPr sz="1200">
        <a:latin typeface="+mn-lt"/>
        <a:ea typeface="+mn-ea"/>
        <a:cs typeface="+mn-cs"/>
        <a:sym typeface="Aptos"/>
      </a:defRPr>
    </a:lvl6pPr>
    <a:lvl7pPr indent="1371600" latinLnBrk="0">
      <a:defRPr sz="1200">
        <a:latin typeface="+mn-lt"/>
        <a:ea typeface="+mn-ea"/>
        <a:cs typeface="+mn-cs"/>
        <a:sym typeface="Aptos"/>
      </a:defRPr>
    </a:lvl7pPr>
    <a:lvl8pPr indent="1600200" latinLnBrk="0">
      <a:defRPr sz="1200">
        <a:latin typeface="+mn-lt"/>
        <a:ea typeface="+mn-ea"/>
        <a:cs typeface="+mn-cs"/>
        <a:sym typeface="Aptos"/>
      </a:defRPr>
    </a:lvl8pPr>
    <a:lvl9pPr indent="18288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1122362"/>
            <a:ext cx="77724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143000" y="3602037"/>
            <a:ext cx="6858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623887" y="1709739"/>
            <a:ext cx="7886701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623887" y="4589464"/>
            <a:ext cx="7886701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757575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757575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757575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757575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629841" y="365125"/>
            <a:ext cx="7886701" cy="1325564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629841" y="1681163"/>
            <a:ext cx="3868341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b="1" sz="2400"/>
            </a:lvl1pPr>
            <a:lvl2pPr marL="0" indent="457200">
              <a:buSzTx/>
              <a:buFontTx/>
              <a:buNone/>
              <a:defRPr b="1" sz="2400"/>
            </a:lvl2pPr>
            <a:lvl3pPr marL="0" indent="914400">
              <a:buSzTx/>
              <a:buFontTx/>
              <a:buNone/>
              <a:defRPr b="1" sz="2400"/>
            </a:lvl3pPr>
            <a:lvl4pPr marL="0" indent="1371600">
              <a:buSzTx/>
              <a:buFontTx/>
              <a:buNone/>
              <a:defRPr b="1" sz="2400"/>
            </a:lvl4pPr>
            <a:lvl5pPr marL="0" indent="1828800"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29150" y="1681163"/>
            <a:ext cx="3887392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887391" y="987425"/>
            <a:ext cx="4629151" cy="4873626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629840" y="2057400"/>
            <a:ext cx="2949180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3887391" y="987425"/>
            <a:ext cx="4629151" cy="48736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28650" y="365125"/>
            <a:ext cx="7886700" cy="1325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241694" y="6404294"/>
            <a:ext cx="273657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757575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el 1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Weekly Update on</a:t>
            </a:r>
            <a:br/>
            <a:r>
              <a:t>EquiTorch</a:t>
            </a:r>
          </a:p>
        </p:txBody>
      </p:sp>
      <p:sp>
        <p:nvSpPr>
          <p:cNvPr id="95" name="Untertitel 2"/>
          <p:cNvSpPr txBox="1"/>
          <p:nvPr>
            <p:ph type="subTitle" sz="half" idx="1"/>
          </p:nvPr>
        </p:nvSpPr>
        <p:spPr>
          <a:xfrm>
            <a:off x="1277653" y="4215007"/>
            <a:ext cx="6463433" cy="2004166"/>
          </a:xfrm>
          <a:prstGeom prst="rect">
            <a:avLst/>
          </a:prstGeom>
        </p:spPr>
        <p:txBody>
          <a:bodyPr/>
          <a:lstStyle/>
          <a:p>
            <a:pPr/>
          </a:p>
          <a:p>
            <a:pPr/>
            <a:r>
              <a:t>Alex, Jens</a:t>
            </a:r>
          </a:p>
          <a:p>
            <a:pPr/>
            <a:r>
              <a:t>SS2025</a:t>
            </a:r>
          </a:p>
          <a:p>
            <a:pPr/>
            <a:r>
              <a:t>Date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el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Status Project Plan</a:t>
            </a:r>
          </a:p>
        </p:txBody>
      </p:sp>
      <p:sp>
        <p:nvSpPr>
          <p:cNvPr id="98" name="Inhaltsplatzhalt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194310" indent="-194310" defTabSz="777240">
              <a:spcBef>
                <a:spcPts val="800"/>
              </a:spcBef>
              <a:defRPr sz="2380"/>
            </a:pPr>
            <a:r>
              <a:t>Work on increasingly complex architectures:</a:t>
            </a:r>
          </a:p>
          <a:p>
            <a:pPr lvl="1" marL="582930" indent="-194310" defTabSz="777240">
              <a:spcBef>
                <a:spcPts val="800"/>
              </a:spcBef>
              <a:defRPr sz="2380"/>
            </a:pPr>
            <a:r>
              <a:t>MLP</a:t>
            </a:r>
          </a:p>
          <a:p>
            <a:pPr lvl="1" marL="582930" indent="-194310" defTabSz="777240">
              <a:spcBef>
                <a:spcPts val="800"/>
              </a:spcBef>
              <a:defRPr sz="2380"/>
            </a:pPr>
            <a:r>
              <a:t>CNN</a:t>
            </a:r>
          </a:p>
          <a:p>
            <a:pPr lvl="1" marL="582930" indent="-194310" defTabSz="777240">
              <a:spcBef>
                <a:spcPts val="800"/>
              </a:spcBef>
              <a:defRPr sz="2380"/>
            </a:pPr>
            <a:r>
              <a:t>RNN</a:t>
            </a:r>
          </a:p>
          <a:p>
            <a:pPr lvl="1" marL="582930" indent="-194310" defTabSz="777240">
              <a:spcBef>
                <a:spcPts val="800"/>
              </a:spcBef>
              <a:defRPr sz="2380"/>
            </a:pPr>
            <a:r>
              <a:t>More Complex ones (Transformer, LSTM, …)</a:t>
            </a:r>
          </a:p>
          <a:p>
            <a:pPr marL="194310" indent="-194310" defTabSz="777240">
              <a:spcBef>
                <a:spcPts val="800"/>
              </a:spcBef>
              <a:defRPr sz="2380"/>
            </a:pPr>
            <a:r>
              <a:t>Core concepts Pytorch vs equinox:</a:t>
            </a:r>
          </a:p>
          <a:p>
            <a:pPr lvl="1" marL="582930" indent="-194310" defTabSz="777240">
              <a:spcBef>
                <a:spcPts val="800"/>
              </a:spcBef>
              <a:defRPr sz="2380"/>
            </a:pPr>
            <a:r>
              <a:t>static vs dynamic differentiation-graph </a:t>
            </a:r>
          </a:p>
          <a:p>
            <a:pPr lvl="1" marL="582930" indent="-194310" defTabSz="777240">
              <a:spcBef>
                <a:spcPts val="800"/>
              </a:spcBef>
              <a:defRPr sz="2380"/>
            </a:pPr>
            <a:r>
              <a:t>Pytorch params vs JAX pytree</a:t>
            </a:r>
          </a:p>
          <a:p>
            <a:pPr lvl="1" marL="582930" indent="-194310" defTabSz="777240">
              <a:spcBef>
                <a:spcPts val="800"/>
              </a:spcBef>
              <a:defRPr sz="2380"/>
            </a:pPr>
            <a:r>
              <a:t>Tensor operations vs automatic vectorisation</a:t>
            </a:r>
          </a:p>
          <a:p>
            <a:pPr lvl="1" marL="582930" indent="-194310" defTabSz="777240">
              <a:spcBef>
                <a:spcPts val="800"/>
              </a:spcBef>
              <a:defRPr sz="2380"/>
            </a:pPr>
            <a:r>
              <a:t>…</a:t>
            </a:r>
          </a:p>
        </p:txBody>
      </p:sp>
      <p:sp>
        <p:nvSpPr>
          <p:cNvPr id="99" name="Pfeil"/>
          <p:cNvSpPr/>
          <p:nvPr/>
        </p:nvSpPr>
        <p:spPr>
          <a:xfrm>
            <a:off x="6810908" y="4484199"/>
            <a:ext cx="961589" cy="3040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445" y="14256"/>
                </a:moveTo>
                <a:lnTo>
                  <a:pt x="9445" y="21600"/>
                </a:lnTo>
                <a:lnTo>
                  <a:pt x="0" y="10800"/>
                </a:lnTo>
                <a:lnTo>
                  <a:pt x="9445" y="0"/>
                </a:lnTo>
                <a:lnTo>
                  <a:pt x="9445" y="7344"/>
                </a:lnTo>
                <a:lnTo>
                  <a:pt x="21600" y="7344"/>
                </a:lnTo>
                <a:lnTo>
                  <a:pt x="21600" y="14256"/>
                </a:lnTo>
                <a:close/>
              </a:path>
            </a:pathLst>
          </a:custGeom>
          <a:solidFill>
            <a:schemeClr val="accent1">
              <a:lumOff val="-5921"/>
            </a:schemeClr>
          </a:solidFill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00" name="Pfeil"/>
          <p:cNvSpPr/>
          <p:nvPr/>
        </p:nvSpPr>
        <p:spPr>
          <a:xfrm>
            <a:off x="2255973" y="2321965"/>
            <a:ext cx="961589" cy="3040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445" y="14256"/>
                </a:moveTo>
                <a:lnTo>
                  <a:pt x="9445" y="21600"/>
                </a:lnTo>
                <a:lnTo>
                  <a:pt x="0" y="10800"/>
                </a:lnTo>
                <a:lnTo>
                  <a:pt x="9445" y="0"/>
                </a:lnTo>
                <a:lnTo>
                  <a:pt x="9445" y="7344"/>
                </a:lnTo>
                <a:lnTo>
                  <a:pt x="21600" y="7344"/>
                </a:lnTo>
                <a:lnTo>
                  <a:pt x="21600" y="14256"/>
                </a:lnTo>
                <a:close/>
              </a:path>
            </a:pathLst>
          </a:custGeom>
          <a:solidFill>
            <a:schemeClr val="accent1">
              <a:lumOff val="-5921"/>
            </a:schemeClr>
          </a:solidFill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el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Progress Since Last Meeting</a:t>
            </a:r>
          </a:p>
        </p:txBody>
      </p:sp>
      <p:sp>
        <p:nvSpPr>
          <p:cNvPr id="103" name="Inhaltsplatzhalt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166878" indent="-166878" defTabSz="667512">
              <a:spcBef>
                <a:spcPts val="700"/>
              </a:spcBef>
              <a:defRPr sz="2044"/>
            </a:pPr>
            <a:r>
              <a:t>Statistics (mandatory) since last meeting</a:t>
            </a:r>
          </a:p>
          <a:p>
            <a:pPr lvl="1" marL="500634" indent="-166878" defTabSz="667512">
              <a:spcBef>
                <a:spcPts val="300"/>
              </a:spcBef>
              <a:defRPr sz="1752"/>
            </a:pPr>
            <a:r>
              <a:t>#Commits</a:t>
            </a:r>
          </a:p>
          <a:p>
            <a:pPr lvl="1" marL="500634" indent="-166878" defTabSz="667512">
              <a:spcBef>
                <a:spcPts val="300"/>
              </a:spcBef>
              <a:defRPr sz="1752"/>
            </a:pPr>
            <a:r>
              <a:t>#LOC added, #LOC  changed</a:t>
            </a:r>
          </a:p>
          <a:p>
            <a:pPr lvl="1" marL="500634" indent="-166878" defTabSz="667512">
              <a:spcBef>
                <a:spcPts val="300"/>
              </a:spcBef>
              <a:defRPr sz="1752"/>
            </a:pPr>
            <a:r>
              <a:t>Docs, manuals etc. – new or changed (approx.)</a:t>
            </a:r>
          </a:p>
          <a:p>
            <a:pPr marL="166878" indent="-166878" defTabSz="667512">
              <a:spcBef>
                <a:spcPts val="700"/>
              </a:spcBef>
              <a:defRPr sz="2044"/>
            </a:pPr>
            <a:r>
              <a:t>Overview focus areas</a:t>
            </a:r>
          </a:p>
          <a:p>
            <a:pPr lvl="1" marL="500634" indent="-166878" defTabSz="667512">
              <a:spcBef>
                <a:spcPts val="300"/>
              </a:spcBef>
              <a:defRPr sz="1752"/>
            </a:pPr>
            <a:r>
              <a:t>Implementation of example Equinox network</a:t>
            </a:r>
          </a:p>
          <a:p>
            <a:pPr lvl="1" marL="500634" indent="-166878" defTabSz="667512">
              <a:spcBef>
                <a:spcPts val="300"/>
              </a:spcBef>
              <a:defRPr sz="1752"/>
            </a:pPr>
            <a:r>
              <a:t>Identify core concepts of Equinox/JAX that differ from pytorch</a:t>
            </a:r>
          </a:p>
          <a:p>
            <a:pPr marL="166878" indent="-166878" defTabSz="667512">
              <a:spcBef>
                <a:spcPts val="700"/>
              </a:spcBef>
              <a:defRPr sz="2044"/>
            </a:pPr>
            <a:r>
              <a:t>For each focus area:</a:t>
            </a:r>
          </a:p>
          <a:p>
            <a:pPr lvl="1" marL="500634" indent="-166878" defTabSz="667512">
              <a:spcBef>
                <a:spcPts val="300"/>
              </a:spcBef>
              <a:defRPr sz="1752"/>
            </a:pPr>
            <a:r>
              <a:t>Setup project (general directory structure, .gitignore, …)</a:t>
            </a:r>
          </a:p>
          <a:p>
            <a:pPr lvl="1" marL="500634" indent="-166878" defTabSz="667512">
              <a:spcBef>
                <a:spcPts val="300"/>
              </a:spcBef>
              <a:defRPr sz="1752"/>
            </a:pPr>
            <a:r>
              <a:t>Equinox network:</a:t>
            </a:r>
          </a:p>
          <a:p>
            <a:pPr lvl="2" marL="834390" indent="-166878" defTabSz="667512">
              <a:spcBef>
                <a:spcPts val="300"/>
              </a:spcBef>
              <a:defRPr sz="1752"/>
            </a:pPr>
            <a:r>
              <a:t>Network module</a:t>
            </a:r>
          </a:p>
          <a:p>
            <a:pPr lvl="2" marL="834390" indent="-166878" defTabSz="667512">
              <a:spcBef>
                <a:spcPts val="300"/>
              </a:spcBef>
              <a:defRPr sz="1752"/>
            </a:pPr>
            <a:r>
              <a:t>Training loop</a:t>
            </a:r>
          </a:p>
          <a:p>
            <a:pPr lvl="2" marL="834390" indent="-166878" defTabSz="667512">
              <a:spcBef>
                <a:spcPts val="300"/>
              </a:spcBef>
              <a:defRPr sz="1752"/>
            </a:pPr>
            <a:r>
              <a:t>Visualisation</a:t>
            </a:r>
          </a:p>
          <a:p>
            <a:pPr lvl="1" marL="500634" indent="-166878" defTabSz="667512">
              <a:spcBef>
                <a:spcPts val="300"/>
              </a:spcBef>
              <a:defRPr sz="1752"/>
            </a:pPr>
            <a:r>
              <a:t>Summary comparison on automated differentiation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itel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Next Goals</a:t>
            </a:r>
          </a:p>
        </p:txBody>
      </p:sp>
      <p:sp>
        <p:nvSpPr>
          <p:cNvPr id="106" name="Inhaltsplatzhalt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New or updated focus areas - overview</a:t>
            </a:r>
          </a:p>
          <a:p>
            <a:pPr>
              <a:spcBef>
                <a:spcPts val="500"/>
              </a:spcBef>
              <a:defRPr sz="2400"/>
            </a:pPr>
            <a:r>
              <a:t>Parsing:</a:t>
            </a:r>
          </a:p>
          <a:p>
            <a:pPr lvl="1" marL="685800" indent="-228600">
              <a:spcBef>
                <a:spcPts val="500"/>
              </a:spcBef>
              <a:defRPr sz="2400"/>
            </a:pPr>
            <a:r>
              <a:t>Generate AST for pytorch &amp; equinox implementations of MLP</a:t>
            </a:r>
          </a:p>
          <a:p>
            <a:pPr lvl="1" marL="685800" indent="-228600">
              <a:spcBef>
                <a:spcPts val="500"/>
              </a:spcBef>
              <a:defRPr sz="2400"/>
            </a:pPr>
            <a:r>
              <a:t>Compare differences</a:t>
            </a:r>
          </a:p>
          <a:p>
            <a:pPr lvl="1" marL="685800" indent="-228600">
              <a:spcBef>
                <a:spcPts val="500"/>
              </a:spcBef>
              <a:defRPr sz="2400"/>
            </a:pPr>
            <a:r>
              <a:t>Start with a simple transpiler for the „happy case“ MLP.</a:t>
            </a:r>
          </a:p>
          <a:p>
            <a:pPr lvl="1" marL="685800" indent="-228600">
              <a:spcBef>
                <a:spcPts val="500"/>
              </a:spcBef>
              <a:defRPr sz="2400"/>
            </a:pPr>
            <a:r>
              <a:t>(Find out what exactly the happy case is.)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itel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Other Topics</a:t>
            </a:r>
          </a:p>
        </p:txBody>
      </p:sp>
      <p:sp>
        <p:nvSpPr>
          <p:cNvPr id="109" name="Inhaltsplatzhalt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Pytorch fundamentally works based on runtime information</a:t>
            </a:r>
          </a:p>
          <a:p>
            <a:pPr/>
            <a:r>
              <a:t>jax/equinox differentiates between static and dynamic information</a:t>
            </a:r>
          </a:p>
          <a:p>
            <a:pPr/>
            <a:r>
              <a:t>JAX comes with tools to handle ambiguous control flows. i.e. adding static arguments and jax.lax TODO: investigate</a:t>
            </a:r>
          </a:p>
        </p:txBody>
      </p:sp>
      <p:sp>
        <p:nvSpPr>
          <p:cNvPr id="110" name="Foliennummernplatzhalter 3"/>
          <p:cNvSpPr txBox="1"/>
          <p:nvPr>
            <p:ph type="sldNum" sz="quarter" idx="4294967295"/>
          </p:nvPr>
        </p:nvSpPr>
        <p:spPr>
          <a:xfrm>
            <a:off x="8326452" y="6404294"/>
            <a:ext cx="188899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