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29150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241694" y="6404294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el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Weekly Update on</a:t>
            </a:r>
            <a:br/>
            <a:r>
              <a:t>EquiTorch</a:t>
            </a:r>
          </a:p>
        </p:txBody>
      </p:sp>
      <p:sp>
        <p:nvSpPr>
          <p:cNvPr id="95" name="Untertitel 2"/>
          <p:cNvSpPr txBox="1"/>
          <p:nvPr>
            <p:ph type="subTitle" sz="half" idx="1"/>
          </p:nvPr>
        </p:nvSpPr>
        <p:spPr>
          <a:xfrm>
            <a:off x="1277653" y="4215007"/>
            <a:ext cx="6463433" cy="2004166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Alex, Jens</a:t>
            </a:r>
          </a:p>
          <a:p>
            <a:pPr/>
            <a:r>
              <a:t>SS2025</a:t>
            </a:r>
          </a:p>
          <a:p>
            <a:pPr/>
            <a:r>
              <a:t>Date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el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Status Project Plan</a:t>
            </a:r>
          </a:p>
        </p:txBody>
      </p:sp>
      <p:sp>
        <p:nvSpPr>
          <p:cNvPr id="98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94310" indent="-194310" defTabSz="777240">
              <a:spcBef>
                <a:spcPts val="800"/>
              </a:spcBef>
              <a:defRPr sz="2380"/>
            </a:pPr>
            <a:r>
              <a:t>Work on increasingly complex architectures: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MLP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CNN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RNN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More Complex ones (Transformer, LSTM, …)</a:t>
            </a:r>
          </a:p>
          <a:p>
            <a:pPr marL="194310" indent="-194310" defTabSz="777240">
              <a:spcBef>
                <a:spcPts val="800"/>
              </a:spcBef>
              <a:defRPr sz="2380"/>
            </a:pPr>
            <a:r>
              <a:t>Core concepts Pytorch vs equinox: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static vs dynamic differentiation-graph 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Pytorch params vs JAX pytree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Tensor operations vs automatic vectorisation</a:t>
            </a:r>
          </a:p>
          <a:p>
            <a:pPr lvl="1" marL="582930" indent="-194310" defTabSz="777240">
              <a:spcBef>
                <a:spcPts val="800"/>
              </a:spcBef>
              <a:defRPr sz="2380"/>
            </a:pPr>
            <a:r>
              <a:t>…</a:t>
            </a:r>
          </a:p>
        </p:txBody>
      </p:sp>
      <p:sp>
        <p:nvSpPr>
          <p:cNvPr id="99" name="Pfeil"/>
          <p:cNvSpPr/>
          <p:nvPr/>
        </p:nvSpPr>
        <p:spPr>
          <a:xfrm>
            <a:off x="6810908" y="4484199"/>
            <a:ext cx="961589" cy="30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45" y="14256"/>
                </a:moveTo>
                <a:lnTo>
                  <a:pt x="9445" y="21600"/>
                </a:lnTo>
                <a:lnTo>
                  <a:pt x="0" y="10800"/>
                </a:lnTo>
                <a:lnTo>
                  <a:pt x="9445" y="0"/>
                </a:lnTo>
                <a:lnTo>
                  <a:pt x="9445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lumOff val="-5921"/>
            </a:schemeClr>
          </a:solidFill>
          <a:ln w="190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0" name="Pfeil"/>
          <p:cNvSpPr/>
          <p:nvPr/>
        </p:nvSpPr>
        <p:spPr>
          <a:xfrm>
            <a:off x="2255973" y="2321965"/>
            <a:ext cx="961589" cy="30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45" y="14256"/>
                </a:moveTo>
                <a:lnTo>
                  <a:pt x="9445" y="21600"/>
                </a:lnTo>
                <a:lnTo>
                  <a:pt x="0" y="10800"/>
                </a:lnTo>
                <a:lnTo>
                  <a:pt x="9445" y="0"/>
                </a:lnTo>
                <a:lnTo>
                  <a:pt x="9445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lumOff val="-5921"/>
            </a:schemeClr>
          </a:solidFill>
          <a:ln w="190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el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Progress Since Last Meeting</a:t>
            </a:r>
          </a:p>
        </p:txBody>
      </p:sp>
      <p:sp>
        <p:nvSpPr>
          <p:cNvPr id="103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6878" indent="-166878" defTabSz="667512">
              <a:spcBef>
                <a:spcPts val="700"/>
              </a:spcBef>
              <a:defRPr sz="2044"/>
            </a:pPr>
            <a:r>
              <a:t>Statistics (mandatory) since last meeting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#Commits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#LOC added, #LOC  changed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Docs, manuals etc. – new or changed (approx.)</a:t>
            </a:r>
          </a:p>
          <a:p>
            <a:pPr marL="166878" indent="-166878" defTabSz="667512">
              <a:spcBef>
                <a:spcPts val="700"/>
              </a:spcBef>
              <a:defRPr sz="2044"/>
            </a:pPr>
            <a:r>
              <a:t>Overview focus areas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Implementation of example Equinox network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Identify core concepts of Equinox/JAX that differ from pytorch</a:t>
            </a:r>
          </a:p>
          <a:p>
            <a:pPr marL="166878" indent="-166878" defTabSz="667512">
              <a:spcBef>
                <a:spcPts val="700"/>
              </a:spcBef>
              <a:defRPr sz="2044"/>
            </a:pPr>
            <a:r>
              <a:t>For each focus area: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Setup project (general directory structure, .gitignore, …)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Equinox network:</a:t>
            </a:r>
          </a:p>
          <a:p>
            <a:pPr lvl="2" marL="834390" indent="-166878" defTabSz="667512">
              <a:spcBef>
                <a:spcPts val="300"/>
              </a:spcBef>
              <a:defRPr sz="1752"/>
            </a:pPr>
            <a:r>
              <a:t>Network module</a:t>
            </a:r>
          </a:p>
          <a:p>
            <a:pPr lvl="2" marL="834390" indent="-166878" defTabSz="667512">
              <a:spcBef>
                <a:spcPts val="300"/>
              </a:spcBef>
              <a:defRPr sz="1752"/>
            </a:pPr>
            <a:r>
              <a:t>Training loop</a:t>
            </a:r>
          </a:p>
          <a:p>
            <a:pPr lvl="2" marL="834390" indent="-166878" defTabSz="667512">
              <a:spcBef>
                <a:spcPts val="300"/>
              </a:spcBef>
              <a:defRPr sz="1752"/>
            </a:pPr>
            <a:r>
              <a:t>Visualisation</a:t>
            </a:r>
          </a:p>
          <a:p>
            <a:pPr lvl="1" marL="500634" indent="-166878" defTabSz="667512">
              <a:spcBef>
                <a:spcPts val="300"/>
              </a:spcBef>
              <a:defRPr sz="1752"/>
            </a:pPr>
            <a:r>
              <a:t>Summary comparison on automated differentiation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el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Next Goals</a:t>
            </a:r>
          </a:p>
        </p:txBody>
      </p:sp>
      <p:sp>
        <p:nvSpPr>
          <p:cNvPr id="106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or updated focus areas - overview</a:t>
            </a:r>
          </a:p>
          <a:p>
            <a:pPr>
              <a:spcBef>
                <a:spcPts val="500"/>
              </a:spcBef>
              <a:defRPr sz="2400"/>
            </a:pPr>
            <a:r>
              <a:t>Parsing: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Generate AST for pytorch &amp; equinox implementations of MLP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Compare differences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Start with a simple transpiler for the „happy case“ MLP.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(Find out what exactly the happy case is.)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el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Other Topics</a:t>
            </a:r>
          </a:p>
        </p:txBody>
      </p:sp>
      <p:sp>
        <p:nvSpPr>
          <p:cNvPr id="109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7170" indent="-217170" defTabSz="868680">
              <a:spcBef>
                <a:spcPts val="900"/>
              </a:spcBef>
              <a:defRPr sz="2660"/>
            </a:pPr>
            <a:r>
              <a:t>Pytorch fundamentally works based on runtime information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jax/equinox differentiates between static and dynamic information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Without access to runtime information transpilation might be inherently ambigue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Maybe translation can do „runtime-probing“?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Maybe we can find a templating-like solution for some cases?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Both are long shots, lets do basics first.</a:t>
            </a:r>
          </a:p>
        </p:txBody>
      </p:sp>
      <p:sp>
        <p:nvSpPr>
          <p:cNvPr id="110" name="Foliennummernplatzhalter 3"/>
          <p:cNvSpPr txBox="1"/>
          <p:nvPr>
            <p:ph type="sldNum" sz="quarter" idx="4294967295"/>
          </p:nvPr>
        </p:nvSpPr>
        <p:spPr>
          <a:xfrm>
            <a:off x="8326452" y="6404294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